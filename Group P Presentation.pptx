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1956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are presenting our machine learning project on Wildfire Burned Area Prediction. Wildfires are an escalating threat due to climate change, and predicting their potential size at ignition is vital for resilient early response. This project details our data engineering, model exploration, and optimization efforts.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aligns directly with UN Sustainable Development Goal 13: Climate Action. By building systems that predict fire sizes at ignition, we strengthen local disaster resilience (Target 13.1) and support institutions in developing targeted risk warnings and restrictions (Target 13.3).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challenge of this task is predicting a highly skewed continuous variable using administrative data. Our objective is to evaluate multiple machine learning regressors on their ability to handle this data, prevent leakage, and optimize the best-performing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key part of our preprocessing was preventing target leakage. If we included the fire size class or the control datetime, the models would perform artificially well, but these features are unknown when a fire is first detected. Therefore, they were strictly removed.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extracted month and hour from the ignition timestamp to represent seasonal and daily cycles. Furthermore, due to high-cardinality in categorical features, we used label category encoding to keep the features compact, as one-hot encoding exploded the dataset to over 23,000 sparse columns.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evaluated a broad range of models, including parametric, instance-based, tree-based ensembling, and neural network regressors. Feature standardization was applied to ensure that distance and gradient-based models were not biased by feature scales.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conducted an experiment using PCA to reduce our features to 18 components. However, PCA degraded performance. For instance, Random Forest R² dropped below zero. This is because PCA's linear combinations destroy the axis-aligned spatial splits that decision trees use to partition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see the results. On standard features, Random Forest was the only algorithm that achieved a positive R² score of 0.122. All other models, including Linear Regression and Neural Nets, struggled, highlighting the complex non-linear relationships in the data. PCA degraded tree models but slightly stabilized MLP and Gradient Boosting.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optimize our top model, we tuned the number of estimators in the Random Forest. Increasing the number of trees to 150 allowed the model to stabilize its variance, improving the final R² score to 0.1490 and successfully decreasing the RMSE.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Following our hyperparameter tuning, we selected the Random Forest Regressor with 150 trees as our final optimized model. This configuration yields our best generalization performance, achieving an R² score of 0.1490 and reducing our RMSE to 6844.21 acres. This slide outlines the exact parameters used. Now, let's discuss the overall results and the challenges we faced.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Although Random Forest successfully extracted predictive patterns, the final R² is 0.1490. This reflects two physical bottlenecks: first, wildfire sizes follow a power-law distribution where extreme outliers dominate the squared error; second, administrative data lacks real-time weather features like wind speed and dryness which dictate physical fire spread.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we built a leakage-free wildfire prediction framework. For future work, we recommend log-transforming the target variable to reduce skewness, integrating historical hourly weather data, and reframing the regression task into size-class classification to support emergency staging.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our team reflections, Lwee Tong Jun focused on the data preprocessing, learning the importance of leakage removal and category representation. Peng Ze Wei managed the model architectures, learning the limitations of PCA and the challenges of regression on skewed data. Our close coordination ensured an integrated end-to-end pipeline.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We are now open to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362895" cy="3944670"/>
          </a:xfrm>
          <a:prstGeom prst="rect">
            <a:avLst/>
          </a:prstGeom>
          <a:noFill/>
        </p:spPr>
        <p:txBody>
          <a:bodyPr wrap="square">
            <a:spAutoFit/>
          </a:bodyPr>
          <a:lstStyle/>
          <a:p>
            <a:pPr>
              <a:spcAft>
                <a:spcPts val="1000"/>
              </a:spcAft>
              <a:defRPr sz="4800" b="1">
                <a:solidFill>
                  <a:srgbClr val="FFFFFF"/>
                </a:solidFill>
                <a:latin typeface="Trebuchet MS"/>
              </a:defRPr>
            </a:pPr>
            <a:r>
              <a:rPr dirty="0"/>
              <a:t>Wildfire Burned Area Prediction</a:t>
            </a:r>
          </a:p>
          <a:p>
            <a:pPr>
              <a:spcAft>
                <a:spcPts val="5000"/>
              </a:spcAft>
              <a:defRPr sz="2000">
                <a:solidFill>
                  <a:srgbClr val="A5D6A7"/>
                </a:solidFill>
                <a:latin typeface="Calibri"/>
              </a:defRPr>
            </a:pPr>
            <a:r>
              <a:rPr sz="3200" dirty="0"/>
              <a:t>A Machine Learning Approach to Mitigating Climate and Environmental Risks</a:t>
            </a:r>
          </a:p>
          <a:p>
            <a:pPr>
              <a:spcAft>
                <a:spcPts val="1000"/>
              </a:spcAft>
              <a:defRPr sz="1400" b="1">
                <a:solidFill>
                  <a:srgbClr val="E0E0E0"/>
                </a:solidFill>
                <a:latin typeface="Calibri"/>
              </a:defRPr>
            </a:pPr>
            <a:r>
              <a:rPr sz="2000" dirty="0"/>
              <a:t>ACE6313 Machine Learning Concepts and Technologies (T2610)</a:t>
            </a:r>
          </a:p>
          <a:p>
            <a:pPr>
              <a:defRPr sz="1400">
                <a:solidFill>
                  <a:srgbClr val="E0E0E0"/>
                </a:solidFill>
                <a:latin typeface="Calibri"/>
              </a:defRPr>
            </a:pPr>
            <a:r>
              <a:rPr sz="2000" dirty="0"/>
              <a:t>Presenters:</a:t>
            </a:r>
            <a:br>
              <a:rPr sz="2000" dirty="0"/>
            </a:br>
            <a:r>
              <a:rPr sz="2000" dirty="0"/>
              <a:t>• </a:t>
            </a:r>
            <a:r>
              <a:rPr sz="2000" dirty="0" err="1"/>
              <a:t>Lwee</a:t>
            </a:r>
            <a:r>
              <a:rPr sz="2000" dirty="0"/>
              <a:t> Tong Jun (ID: 1211112083) - Preprocessing</a:t>
            </a:r>
            <a:br>
              <a:rPr sz="2000" dirty="0"/>
            </a:br>
            <a:r>
              <a:rPr sz="2000" dirty="0"/>
              <a:t>• Peng Ze Wei (ID: 1211108918) - ML Mod</a:t>
            </a:r>
            <a:r>
              <a:rPr lang="en-US" altLang="zh-CN" sz="2000" dirty="0"/>
              <a:t>el</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Alignment with UN SDG 13: Climate Action</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645920"/>
            <a:ext cx="3474720" cy="4114800"/>
          </a:xfrm>
          <a:prstGeom prst="roundRect">
            <a:avLst/>
          </a:prstGeom>
          <a:solidFill>
            <a:srgbClr val="2E7D32"/>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wrap="square" lIns="182880" tIns="457200" rIns="182880" rtlCol="0" anchor="ctr"/>
          <a:lstStyle/>
          <a:p>
            <a:pPr algn="ctr">
              <a:spcAft>
                <a:spcPts val="2000"/>
              </a:spcAft>
              <a:defRPr sz="2600" b="1">
                <a:solidFill>
                  <a:srgbClr val="FFFFFF"/>
                </a:solidFill>
                <a:latin typeface="Trebuchet MS"/>
              </a:defRPr>
            </a:pPr>
            <a:r>
              <a:t>SDG 13</a:t>
            </a:r>
            <a:br/>
            <a:r>
              <a:t>CLIMATE ACTION</a:t>
            </a:r>
          </a:p>
          <a:p>
            <a:pPr algn="ctr">
              <a:defRPr sz="1500">
                <a:solidFill>
                  <a:srgbClr val="E0E0E0"/>
                </a:solidFill>
                <a:latin typeface="Calibri"/>
              </a:defRPr>
            </a:pPr>
            <a:r>
              <a:t>Building tools for resilience, early warning, and carbon emissions reduction through forest preservation.</a:t>
            </a:r>
          </a:p>
        </p:txBody>
      </p:sp>
      <p:sp>
        <p:nvSpPr>
          <p:cNvPr id="5" name="TextBox 4"/>
          <p:cNvSpPr txBox="1"/>
          <p:nvPr/>
        </p:nvSpPr>
        <p:spPr>
          <a:xfrm>
            <a:off x="4754880" y="1645920"/>
            <a:ext cx="6492240" cy="4114800"/>
          </a:xfrm>
          <a:prstGeom prst="rect">
            <a:avLst/>
          </a:prstGeom>
          <a:noFill/>
        </p:spPr>
        <p:txBody>
          <a:bodyPr wrap="square">
            <a:spAutoFit/>
          </a:bodyPr>
          <a:lstStyle/>
          <a:p>
            <a:pPr>
              <a:spcAft>
                <a:spcPts val="800"/>
              </a:spcAft>
            </a:pPr>
            <a:r>
              <a:rPr sz="1600" b="1">
                <a:solidFill>
                  <a:srgbClr val="A5D6A7"/>
                </a:solidFill>
                <a:latin typeface="Calibri"/>
              </a:rPr>
              <a:t>SDG Target 13.1 (Resilience &amp; Adaptability): </a:t>
            </a:r>
            <a:r>
              <a:rPr sz="1500">
                <a:solidFill>
                  <a:srgbClr val="E0E0E0"/>
                </a:solidFill>
                <a:latin typeface="Calibri"/>
              </a:rPr>
              <a:t>Providing prediction tools to enhance disaster preparedness and emergency response times.</a:t>
            </a:r>
          </a:p>
          <a:p>
            <a:pPr>
              <a:spcAft>
                <a:spcPts val="800"/>
              </a:spcAft>
            </a:pPr>
            <a:r>
              <a:rPr sz="1600" b="1">
                <a:solidFill>
                  <a:srgbClr val="A5D6A7"/>
                </a:solidFill>
                <a:latin typeface="Calibri"/>
              </a:rPr>
              <a:t>SDG Target 13.3 (Early Warning &amp; Awareness): </a:t>
            </a:r>
            <a:r>
              <a:rPr sz="1500">
                <a:solidFill>
                  <a:srgbClr val="E0E0E0"/>
                </a:solidFill>
                <a:latin typeface="Calibri"/>
              </a:rPr>
              <a:t>Utilizing geographic and seasonal patterns to formulate regional and industrial warnings.</a:t>
            </a:r>
          </a:p>
          <a:p>
            <a:pPr>
              <a:spcAft>
                <a:spcPts val="800"/>
              </a:spcAft>
            </a:pPr>
            <a:r>
              <a:rPr sz="1600" b="1">
                <a:solidFill>
                  <a:srgbClr val="A5D6A7"/>
                </a:solidFill>
                <a:latin typeface="Calibri"/>
              </a:rPr>
              <a:t>Climate Mitigation: </a:t>
            </a:r>
            <a:r>
              <a:rPr sz="1500">
                <a:solidFill>
                  <a:srgbClr val="E0E0E0"/>
                </a:solidFill>
                <a:latin typeface="Calibri"/>
              </a:rPr>
              <a:t>Successful early containment prevents catastrophic carbon emissions from burning forests, protecting critical carbon sinks.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Problem Statement &amp; Objectives</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The Problem</a:t>
            </a:r>
          </a:p>
          <a:p>
            <a:pPr>
              <a:spcAft>
                <a:spcPts val="1400"/>
              </a:spcAft>
              <a:defRPr sz="1600">
                <a:solidFill>
                  <a:srgbClr val="E0E0E0"/>
                </a:solidFill>
                <a:latin typeface="Calibri"/>
              </a:defRPr>
            </a:pPr>
            <a:r>
              <a:t>Wildfire spread is highly chaotic, governed by weather, fuel, topography, and administrative response times.</a:t>
            </a:r>
          </a:p>
          <a:p>
            <a:pPr>
              <a:defRPr sz="1600">
                <a:solidFill>
                  <a:srgbClr val="E0E0E0"/>
                </a:solidFill>
                <a:latin typeface="Calibri"/>
              </a:defRPr>
            </a:pPr>
            <a:r>
              <a:t>Forecasting final fire size (EstTotalAcres) at the moment of ignition is a highly non-linear, right-skewed regression task.</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Key Objectives</a:t>
            </a:r>
          </a:p>
          <a:p>
            <a:pPr>
              <a:spcAft>
                <a:spcPts val="800"/>
              </a:spcAft>
            </a:pPr>
            <a:r>
              <a:rPr sz="1600" b="1">
                <a:solidFill>
                  <a:srgbClr val="A5D6A7"/>
                </a:solidFill>
                <a:latin typeface="Calibri"/>
              </a:rPr>
              <a:t>1. Preprocessing Pipeline: </a:t>
            </a:r>
            <a:r>
              <a:rPr sz="1500">
                <a:solidFill>
                  <a:srgbClr val="E0E0E0"/>
                </a:solidFill>
                <a:latin typeface="Calibri"/>
              </a:rPr>
              <a:t>Develop a clean data preprocessing pipeline (cleaning, feature extraction).</a:t>
            </a:r>
          </a:p>
          <a:p>
            <a:pPr>
              <a:spcAft>
                <a:spcPts val="800"/>
              </a:spcAft>
            </a:pPr>
            <a:r>
              <a:rPr sz="1600" b="1">
                <a:solidFill>
                  <a:srgbClr val="A5D6A7"/>
                </a:solidFill>
                <a:latin typeface="Calibri"/>
              </a:rPr>
              <a:t>2. Leakage Prevention: </a:t>
            </a:r>
            <a:r>
              <a:rPr sz="1500">
                <a:solidFill>
                  <a:srgbClr val="E0E0E0"/>
                </a:solidFill>
                <a:latin typeface="Calibri"/>
              </a:rPr>
              <a:t>Enforce strict feature selection to prevent target leakage.</a:t>
            </a:r>
          </a:p>
          <a:p>
            <a:pPr>
              <a:spcAft>
                <a:spcPts val="800"/>
              </a:spcAft>
            </a:pPr>
            <a:r>
              <a:rPr sz="1600" b="1">
                <a:solidFill>
                  <a:srgbClr val="A5D6A7"/>
                </a:solidFill>
                <a:latin typeface="Calibri"/>
              </a:rPr>
              <a:t>3. Model Comparison: </a:t>
            </a:r>
            <a:r>
              <a:rPr sz="1500">
                <a:solidFill>
                  <a:srgbClr val="E0E0E0"/>
                </a:solidFill>
                <a:latin typeface="Calibri"/>
              </a:rPr>
              <a:t>Train and compare 6 distinct regression models (Linear Regression, kNN, Decision Trees, Random Forest, Gradient Boosting, MLP).</a:t>
            </a:r>
          </a:p>
          <a:p>
            <a:pPr>
              <a:spcAft>
                <a:spcPts val="800"/>
              </a:spcAft>
            </a:pPr>
            <a:r>
              <a:rPr sz="1600" b="1">
                <a:solidFill>
                  <a:srgbClr val="A5D6A7"/>
                </a:solidFill>
                <a:latin typeface="Calibri"/>
              </a:rPr>
              <a:t>4. Dimensional Reduction: </a:t>
            </a:r>
            <a:r>
              <a:rPr sz="1500">
                <a:solidFill>
                  <a:srgbClr val="E0E0E0"/>
                </a:solidFill>
                <a:latin typeface="Calibri"/>
              </a:rPr>
              <a:t>Test PCA's efficacy for dimensional reduction on tree and neural models.</a:t>
            </a:r>
          </a:p>
          <a:p>
            <a:pPr>
              <a:spcAft>
                <a:spcPts val="800"/>
              </a:spcAft>
            </a:pPr>
            <a:r>
              <a:rPr sz="1600" b="1">
                <a:solidFill>
                  <a:srgbClr val="A5D6A7"/>
                </a:solidFill>
                <a:latin typeface="Calibri"/>
              </a:rPr>
              <a:t>5. Optimization: </a:t>
            </a:r>
            <a:r>
              <a:rPr sz="1500">
                <a:solidFill>
                  <a:srgbClr val="E0E0E0"/>
                </a:solidFill>
                <a:latin typeface="Calibri"/>
              </a:rPr>
              <a:t>Optimize the top-performing model through hyperparameter tuning.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Data Preprocessing &amp; Cleaning</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Dataset &amp; Cleaning</a:t>
            </a:r>
          </a:p>
          <a:p>
            <a:pPr>
              <a:spcAft>
                <a:spcPts val="800"/>
              </a:spcAft>
            </a:pPr>
            <a:r>
              <a:rPr sz="1600" b="1">
                <a:solidFill>
                  <a:srgbClr val="A5D6A7"/>
                </a:solidFill>
                <a:latin typeface="Calibri"/>
              </a:rPr>
              <a:t>Dataset: </a:t>
            </a:r>
            <a:r>
              <a:rPr sz="1500">
                <a:solidFill>
                  <a:srgbClr val="E0E0E0"/>
                </a:solidFill>
                <a:latin typeface="Calibri"/>
              </a:rPr>
              <a:t>Oregon Department of Forestry (ODF) Fire Occurrence dataset (2000–2023, 23,490 raw records).</a:t>
            </a:r>
          </a:p>
          <a:p>
            <a:pPr>
              <a:spcAft>
                <a:spcPts val="800"/>
              </a:spcAft>
            </a:pPr>
            <a:r>
              <a:rPr sz="1600" b="1">
                <a:solidFill>
                  <a:srgbClr val="A5D6A7"/>
                </a:solidFill>
                <a:latin typeface="Calibri"/>
              </a:rPr>
              <a:t>Data Cleaning: </a:t>
            </a:r>
            <a:r>
              <a:rPr sz="1500">
                <a:solidFill>
                  <a:srgbClr val="E0E0E0"/>
                </a:solidFill>
                <a:latin typeface="Calibri"/>
              </a:rPr>
              <a:t>Handled missing records, filtered coordinates, leaving 23,202 clean samples.</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Target Leakage Prevention</a:t>
            </a:r>
          </a:p>
          <a:p>
            <a:pPr>
              <a:spcAft>
                <a:spcPts val="800"/>
              </a:spcAft>
            </a:pPr>
            <a:r>
              <a:rPr sz="1600" b="1">
                <a:solidFill>
                  <a:srgbClr val="A5D6A7"/>
                </a:solidFill>
                <a:latin typeface="Calibri"/>
              </a:rPr>
              <a:t>Dropped Size_class: </a:t>
            </a:r>
            <a:r>
              <a:rPr sz="1500">
                <a:solidFill>
                  <a:srgbClr val="E0E0E0"/>
                </a:solidFill>
                <a:latin typeface="Calibri"/>
              </a:rPr>
              <a:t>Size classes (A-G) are directly calculated from final acreage, creating automatic target leakage.</a:t>
            </a:r>
          </a:p>
          <a:p>
            <a:pPr>
              <a:spcAft>
                <a:spcPts val="800"/>
              </a:spcAft>
            </a:pPr>
            <a:r>
              <a:rPr sz="1600" b="1">
                <a:solidFill>
                  <a:srgbClr val="A5D6A7"/>
                </a:solidFill>
                <a:latin typeface="Calibri"/>
              </a:rPr>
              <a:t>Dropped Control_DateTime: </a:t>
            </a:r>
            <a:r>
              <a:rPr sz="1500">
                <a:solidFill>
                  <a:srgbClr val="E0E0E0"/>
                </a:solidFill>
                <a:latin typeface="Calibri"/>
              </a:rPr>
              <a:t>Containment times are only known post-event, making them unavailable at ignition.</a:t>
            </a:r>
          </a:p>
          <a:p>
            <a:pPr>
              <a:spcAft>
                <a:spcPts val="800"/>
              </a:spcAft>
            </a:pPr>
            <a:r>
              <a:rPr sz="1600" b="1">
                <a:solidFill>
                  <a:srgbClr val="A5D6A7"/>
                </a:solidFill>
                <a:latin typeface="Calibri"/>
              </a:rPr>
              <a:t>Removed Metadata: </a:t>
            </a:r>
            <a:r>
              <a:rPr sz="1500">
                <a:solidFill>
                  <a:srgbClr val="E0E0E0"/>
                </a:solidFill>
                <a:latin typeface="Calibri"/>
              </a:rPr>
              <a:t>Serial numbers, names, and unique IDs which contain no predictive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Feature Engineering &amp; Encoding</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Temporal Feature Engineering</a:t>
            </a:r>
          </a:p>
          <a:p>
            <a:pPr>
              <a:spcAft>
                <a:spcPts val="800"/>
              </a:spcAft>
            </a:pPr>
            <a:r>
              <a:rPr sz="1600" b="1">
                <a:solidFill>
                  <a:srgbClr val="A5D6A7"/>
                </a:solidFill>
                <a:latin typeface="Calibri"/>
              </a:rPr>
              <a:t>Ignition DateTime Parsing: </a:t>
            </a:r>
            <a:r>
              <a:rPr sz="1500">
                <a:solidFill>
                  <a:srgbClr val="E0E0E0"/>
                </a:solidFill>
                <a:latin typeface="Calibri"/>
              </a:rPr>
              <a:t>Parsed Ign_DateTime to extract seasonal and daily indicators.</a:t>
            </a:r>
          </a:p>
          <a:p>
            <a:pPr>
              <a:spcAft>
                <a:spcPts val="800"/>
              </a:spcAft>
            </a:pPr>
            <a:r>
              <a:rPr sz="1600" b="1">
                <a:solidFill>
                  <a:srgbClr val="A5D6A7"/>
                </a:solidFill>
                <a:latin typeface="Calibri"/>
              </a:rPr>
              <a:t>Ign_Month: </a:t>
            </a:r>
            <a:r>
              <a:rPr sz="1500">
                <a:solidFill>
                  <a:srgbClr val="E0E0E0"/>
                </a:solidFill>
                <a:latin typeface="Calibri"/>
              </a:rPr>
              <a:t>Captures seasonal risk profiles, representing seasonal climate cycles.</a:t>
            </a:r>
          </a:p>
          <a:p>
            <a:pPr>
              <a:spcAft>
                <a:spcPts val="800"/>
              </a:spcAft>
            </a:pPr>
            <a:r>
              <a:rPr sz="1600" b="1">
                <a:solidFill>
                  <a:srgbClr val="A5D6A7"/>
                </a:solidFill>
                <a:latin typeface="Calibri"/>
              </a:rPr>
              <a:t>Ign_Hour: </a:t>
            </a:r>
            <a:r>
              <a:rPr sz="1500">
                <a:solidFill>
                  <a:srgbClr val="E0E0E0"/>
                </a:solidFill>
                <a:latin typeface="Calibri"/>
              </a:rPr>
              <a:t>Captures peak daily temperature periods and daily cycles.</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Categorical Encoding Strategy</a:t>
            </a:r>
          </a:p>
          <a:p>
            <a:pPr>
              <a:spcAft>
                <a:spcPts val="800"/>
              </a:spcAft>
            </a:pPr>
            <a:r>
              <a:rPr sz="1600" b="1">
                <a:solidFill>
                  <a:srgbClr val="A5D6A7"/>
                </a:solidFill>
                <a:latin typeface="Calibri"/>
              </a:rPr>
              <a:t>High-Cardinality Dilemma: </a:t>
            </a:r>
            <a:r>
              <a:rPr sz="1500">
                <a:solidFill>
                  <a:srgbClr val="E0E0E0"/>
                </a:solidFill>
                <a:latin typeface="Calibri"/>
              </a:rPr>
              <a:t>Applying one-hot encoding to high-cardinality geographic columns (Twn, Rng, Subdiv) creates 23,463 sparse features, leading to overfitting.</a:t>
            </a:r>
          </a:p>
          <a:p>
            <a:pPr>
              <a:spcAft>
                <a:spcPts val="800"/>
              </a:spcAft>
            </a:pPr>
            <a:r>
              <a:rPr sz="1600" b="1">
                <a:solidFill>
                  <a:srgbClr val="A5D6A7"/>
                </a:solidFill>
                <a:latin typeface="Calibri"/>
              </a:rPr>
              <a:t>Label Encoding Solution: </a:t>
            </a:r>
            <a:r>
              <a:rPr sz="1500">
                <a:solidFill>
                  <a:srgbClr val="E0E0E0"/>
                </a:solidFill>
                <a:latin typeface="Calibri"/>
              </a:rPr>
              <a:t>Applied category coding (Label Encoding) to retain a compact feature space of 24 dense features, maintaining generalizability.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Machine Learning Algorithms</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Evaluation of 6 Regressors</a:t>
            </a:r>
          </a:p>
          <a:p>
            <a:pPr>
              <a:spcAft>
                <a:spcPts val="800"/>
              </a:spcAft>
            </a:pPr>
            <a:r>
              <a:rPr sz="1600" b="1">
                <a:solidFill>
                  <a:srgbClr val="A5D6A7"/>
                </a:solidFill>
                <a:latin typeface="Calibri"/>
              </a:rPr>
              <a:t>Parametric Baseline: </a:t>
            </a:r>
            <a:r>
              <a:rPr sz="1500">
                <a:solidFill>
                  <a:srgbClr val="E0E0E0"/>
                </a:solidFill>
                <a:latin typeface="Calibri"/>
              </a:rPr>
              <a:t>Linear Regression</a:t>
            </a:r>
          </a:p>
          <a:p>
            <a:pPr>
              <a:spcAft>
                <a:spcPts val="800"/>
              </a:spcAft>
            </a:pPr>
            <a:r>
              <a:rPr sz="1600" b="1">
                <a:solidFill>
                  <a:srgbClr val="A5D6A7"/>
                </a:solidFill>
                <a:latin typeface="Calibri"/>
              </a:rPr>
              <a:t>Instance-Based: </a:t>
            </a:r>
            <a:r>
              <a:rPr sz="1500">
                <a:solidFill>
                  <a:srgbClr val="E0E0E0"/>
                </a:solidFill>
                <a:latin typeface="Calibri"/>
              </a:rPr>
              <a:t>k-Nearest Neighbors (kNN)</a:t>
            </a:r>
          </a:p>
          <a:p>
            <a:pPr>
              <a:spcAft>
                <a:spcPts val="800"/>
              </a:spcAft>
            </a:pPr>
            <a:r>
              <a:rPr sz="1600" b="1">
                <a:solidFill>
                  <a:srgbClr val="A5D6A7"/>
                </a:solidFill>
                <a:latin typeface="Calibri"/>
              </a:rPr>
              <a:t>Non-Parametric Trees: </a:t>
            </a:r>
            <a:r>
              <a:rPr sz="1500">
                <a:solidFill>
                  <a:srgbClr val="E0E0E0"/>
                </a:solidFill>
                <a:latin typeface="Calibri"/>
              </a:rPr>
              <a:t>Decision Trees, Random Forest, and Gradient Boosting</a:t>
            </a:r>
          </a:p>
          <a:p>
            <a:pPr>
              <a:spcAft>
                <a:spcPts val="800"/>
              </a:spcAft>
            </a:pPr>
            <a:r>
              <a:rPr sz="1600" b="1">
                <a:solidFill>
                  <a:srgbClr val="A5D6A7"/>
                </a:solidFill>
                <a:latin typeface="Calibri"/>
              </a:rPr>
              <a:t>Neural Network: </a:t>
            </a:r>
            <a:r>
              <a:rPr sz="1500">
                <a:solidFill>
                  <a:srgbClr val="E0E0E0"/>
                </a:solidFill>
                <a:latin typeface="Calibri"/>
              </a:rPr>
              <a:t>Multi-Layer Perceptron (MLP)</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Feature Scaling</a:t>
            </a:r>
          </a:p>
          <a:p>
            <a:pPr>
              <a:spcAft>
                <a:spcPts val="800"/>
              </a:spcAft>
            </a:pPr>
            <a:r>
              <a:rPr sz="1600" b="1">
                <a:solidFill>
                  <a:srgbClr val="A5D6A7"/>
                </a:solidFill>
                <a:latin typeface="Calibri"/>
              </a:rPr>
              <a:t>Standardization: </a:t>
            </a:r>
            <a:r>
              <a:rPr sz="1500">
                <a:solidFill>
                  <a:srgbClr val="E0E0E0"/>
                </a:solidFill>
                <a:latin typeface="Calibri"/>
              </a:rPr>
              <a:t>Standardized all continuous and encoded variables using StandardScaler.</a:t>
            </a:r>
          </a:p>
          <a:p>
            <a:pPr>
              <a:spcAft>
                <a:spcPts val="800"/>
              </a:spcAft>
            </a:pPr>
            <a:r>
              <a:rPr sz="1600" b="1">
                <a:solidFill>
                  <a:srgbClr val="A5D6A7"/>
                </a:solidFill>
                <a:latin typeface="Calibri"/>
              </a:rPr>
              <a:t>Reasoning: </a:t>
            </a:r>
            <a:r>
              <a:rPr sz="1500">
                <a:solidFill>
                  <a:srgbClr val="E0E0E0"/>
                </a:solidFill>
                <a:latin typeface="Calibri"/>
              </a:rPr>
              <a:t>Ensures equal feature weighting for distance (kNN) and weight-based gradient updates (MLP) to avoid scaling bias.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Feature Reduction via PCA</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PCA Setup &amp; Key Findings</a:t>
            </a:r>
          </a:p>
          <a:p>
            <a:pPr>
              <a:spcAft>
                <a:spcPts val="800"/>
              </a:spcAft>
            </a:pPr>
            <a:r>
              <a:rPr sz="1600" b="1">
                <a:solidFill>
                  <a:srgbClr val="A5D6A7"/>
                </a:solidFill>
                <a:latin typeface="Calibri"/>
              </a:rPr>
              <a:t>PCA Configuration: </a:t>
            </a:r>
            <a:r>
              <a:rPr sz="1500">
                <a:solidFill>
                  <a:srgbClr val="E0E0E0"/>
                </a:solidFill>
                <a:latin typeface="Calibri"/>
              </a:rPr>
              <a:t>Applied Principal Component Analysis targeting 95% explained variance.</a:t>
            </a:r>
          </a:p>
          <a:p>
            <a:pPr>
              <a:spcAft>
                <a:spcPts val="800"/>
              </a:spcAft>
            </a:pPr>
            <a:r>
              <a:rPr sz="1600" b="1">
                <a:solidFill>
                  <a:srgbClr val="A5D6A7"/>
                </a:solidFill>
                <a:latin typeface="Calibri"/>
              </a:rPr>
              <a:t>Compression: </a:t>
            </a:r>
            <a:r>
              <a:rPr sz="1500">
                <a:solidFill>
                  <a:srgbClr val="E0E0E0"/>
                </a:solidFill>
                <a:latin typeface="Calibri"/>
              </a:rPr>
              <a:t>Reduced the feature space from 24 features to 18 orthogonal components.</a:t>
            </a:r>
          </a:p>
          <a:p>
            <a:pPr>
              <a:spcAft>
                <a:spcPts val="800"/>
              </a:spcAft>
            </a:pPr>
            <a:r>
              <a:rPr sz="1600" b="1">
                <a:solidFill>
                  <a:srgbClr val="A5D6A7"/>
                </a:solidFill>
                <a:latin typeface="Calibri"/>
              </a:rPr>
              <a:t>Severe Tree Degradation: </a:t>
            </a:r>
            <a:r>
              <a:rPr sz="1500">
                <a:solidFill>
                  <a:srgbClr val="E0E0E0"/>
                </a:solidFill>
                <a:latin typeface="Calibri"/>
              </a:rPr>
              <a:t>Random Forest R² fell from +0.1220 (Standard) to -0.0841 (PCA).</a:t>
            </a:r>
          </a:p>
          <a:p>
            <a:pPr>
              <a:spcAft>
                <a:spcPts val="800"/>
              </a:spcAft>
            </a:pPr>
            <a:r>
              <a:rPr sz="1600" b="1">
                <a:solidFill>
                  <a:srgbClr val="A5D6A7"/>
                </a:solidFill>
                <a:latin typeface="Calibri"/>
              </a:rPr>
              <a:t>Why? </a:t>
            </a:r>
            <a:r>
              <a:rPr sz="1500">
                <a:solidFill>
                  <a:srgbClr val="E0E0E0"/>
                </a:solidFill>
                <a:latin typeface="Calibri"/>
              </a:rPr>
              <a:t>PCA creates linear combinations of features, which destroys the axis-aligned splits and local boundaries that decision trees rely on.</a:t>
            </a:r>
          </a:p>
        </p:txBody>
      </p:sp>
      <p:pic>
        <p:nvPicPr>
          <p:cNvPr id="5" name="Picture 4" descr="PCA Cumulative Explained Variance Ratio curve.png"/>
          <p:cNvPicPr>
            <a:picLocks noChangeAspect="1"/>
          </p:cNvPicPr>
          <p:nvPr/>
        </p:nvPicPr>
        <p:blipFill>
          <a:blip r:embed="rId3"/>
          <a:stretch>
            <a:fillRect/>
          </a:stretch>
        </p:blipFill>
        <p:spPr>
          <a:xfrm>
            <a:off x="6217920" y="1645920"/>
            <a:ext cx="5029200" cy="3236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Model Performance Comparison</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914400" y="1645920"/>
          <a:ext cx="10361980" cy="4114800"/>
        </p:xfrm>
        <a:graphic>
          <a:graphicData uri="http://schemas.openxmlformats.org/drawingml/2006/table">
            <a:tbl>
              <a:tblPr firstRow="1" bandRow="1">
                <a:tableStyleId>{5C22544A-7EE6-4342-B048-85BDC9FD1C3A}</a:tableStyleId>
              </a:tblPr>
              <a:tblGrid>
                <a:gridCol w="3962095">
                  <a:extLst>
                    <a:ext uri="{9D8B030D-6E8A-4147-A177-3AD203B41FA5}">
                      <a16:colId xmlns:a16="http://schemas.microsoft.com/office/drawing/2014/main" val="20000"/>
                    </a:ext>
                  </a:extLst>
                </a:gridCol>
                <a:gridCol w="2133295">
                  <a:extLst>
                    <a:ext uri="{9D8B030D-6E8A-4147-A177-3AD203B41FA5}">
                      <a16:colId xmlns:a16="http://schemas.microsoft.com/office/drawing/2014/main" val="20001"/>
                    </a:ext>
                  </a:extLst>
                </a:gridCol>
                <a:gridCol w="2133295">
                  <a:extLst>
                    <a:ext uri="{9D8B030D-6E8A-4147-A177-3AD203B41FA5}">
                      <a16:colId xmlns:a16="http://schemas.microsoft.com/office/drawing/2014/main" val="20002"/>
                    </a:ext>
                  </a:extLst>
                </a:gridCol>
                <a:gridCol w="2133295">
                  <a:extLst>
                    <a:ext uri="{9D8B030D-6E8A-4147-A177-3AD203B41FA5}">
                      <a16:colId xmlns:a16="http://schemas.microsoft.com/office/drawing/2014/main" val="20003"/>
                    </a:ext>
                  </a:extLst>
                </a:gridCol>
              </a:tblGrid>
              <a:tr h="587828">
                <a:tc>
                  <a:txBody>
                    <a:bodyPr/>
                    <a:lstStyle/>
                    <a:p>
                      <a:pPr algn="l">
                        <a:defRPr sz="1600" b="1">
                          <a:solidFill>
                            <a:srgbClr val="FFFFFF"/>
                          </a:solidFill>
                          <a:latin typeface="Trebuchet MS"/>
                        </a:defRPr>
                      </a:pPr>
                      <a:r>
                        <a:t>Model / Algorithm</a:t>
                      </a:r>
                    </a:p>
                  </a:txBody>
                  <a:tcPr>
                    <a:solidFill>
                      <a:srgbClr val="2E7D32"/>
                    </a:solidFill>
                  </a:tcPr>
                </a:tc>
                <a:tc>
                  <a:txBody>
                    <a:bodyPr/>
                    <a:lstStyle/>
                    <a:p>
                      <a:pPr algn="ctr">
                        <a:defRPr sz="1600" b="1">
                          <a:solidFill>
                            <a:srgbClr val="FFFFFF"/>
                          </a:solidFill>
                          <a:latin typeface="Trebuchet MS"/>
                        </a:defRPr>
                      </a:pPr>
                      <a:r>
                        <a:t>Standard R²</a:t>
                      </a:r>
                    </a:p>
                  </a:txBody>
                  <a:tcPr>
                    <a:solidFill>
                      <a:srgbClr val="2E7D32"/>
                    </a:solidFill>
                  </a:tcPr>
                </a:tc>
                <a:tc>
                  <a:txBody>
                    <a:bodyPr/>
                    <a:lstStyle/>
                    <a:p>
                      <a:pPr algn="ctr">
                        <a:defRPr sz="1600" b="1">
                          <a:solidFill>
                            <a:srgbClr val="FFFFFF"/>
                          </a:solidFill>
                          <a:latin typeface="Trebuchet MS"/>
                        </a:defRPr>
                      </a:pPr>
                      <a:r>
                        <a:t>Standard RMSE (Acres)</a:t>
                      </a:r>
                    </a:p>
                  </a:txBody>
                  <a:tcPr>
                    <a:solidFill>
                      <a:srgbClr val="2E7D32"/>
                    </a:solidFill>
                  </a:tcPr>
                </a:tc>
                <a:tc>
                  <a:txBody>
                    <a:bodyPr/>
                    <a:lstStyle/>
                    <a:p>
                      <a:pPr algn="ctr">
                        <a:defRPr sz="1600" b="1">
                          <a:solidFill>
                            <a:srgbClr val="FFFFFF"/>
                          </a:solidFill>
                          <a:latin typeface="Trebuchet MS"/>
                        </a:defRPr>
                      </a:pPr>
                      <a:r>
                        <a:t>PCA R²</a:t>
                      </a:r>
                    </a:p>
                  </a:txBody>
                  <a:tcPr>
                    <a:solidFill>
                      <a:srgbClr val="2E7D32"/>
                    </a:solidFill>
                  </a:tcPr>
                </a:tc>
                <a:extLst>
                  <a:ext uri="{0D108BD9-81ED-4DB2-BD59-A6C34878D82A}">
                    <a16:rowId xmlns:a16="http://schemas.microsoft.com/office/drawing/2014/main" val="10000"/>
                  </a:ext>
                </a:extLst>
              </a:tr>
              <a:tr h="587828">
                <a:tc>
                  <a:txBody>
                    <a:bodyPr/>
                    <a:lstStyle/>
                    <a:p>
                      <a:pPr algn="l">
                        <a:defRPr sz="1500" b="1">
                          <a:solidFill>
                            <a:srgbClr val="A5D6A7"/>
                          </a:solidFill>
                          <a:latin typeface="Calibri"/>
                        </a:defRPr>
                      </a:pPr>
                      <a:r>
                        <a:t>Random Forest (Top Model)</a:t>
                      </a:r>
                    </a:p>
                  </a:txBody>
                  <a:tcPr>
                    <a:solidFill>
                      <a:srgbClr val="242F2B"/>
                    </a:solidFill>
                  </a:tcPr>
                </a:tc>
                <a:tc>
                  <a:txBody>
                    <a:bodyPr/>
                    <a:lstStyle/>
                    <a:p>
                      <a:pPr algn="ctr">
                        <a:defRPr sz="1500" b="1">
                          <a:solidFill>
                            <a:srgbClr val="A5D6A7"/>
                          </a:solidFill>
                          <a:latin typeface="Calibri"/>
                        </a:defRPr>
                      </a:pPr>
                      <a:r>
                        <a:t>0.1220</a:t>
                      </a:r>
                    </a:p>
                  </a:txBody>
                  <a:tcPr>
                    <a:solidFill>
                      <a:srgbClr val="242F2B"/>
                    </a:solidFill>
                  </a:tcPr>
                </a:tc>
                <a:tc>
                  <a:txBody>
                    <a:bodyPr/>
                    <a:lstStyle/>
                    <a:p>
                      <a:pPr algn="ctr">
                        <a:defRPr sz="1500" b="1">
                          <a:solidFill>
                            <a:srgbClr val="A5D6A7"/>
                          </a:solidFill>
                          <a:latin typeface="Calibri"/>
                        </a:defRPr>
                      </a:pPr>
                      <a:r>
                        <a:t>6951.77</a:t>
                      </a:r>
                    </a:p>
                  </a:txBody>
                  <a:tcPr>
                    <a:solidFill>
                      <a:srgbClr val="242F2B"/>
                    </a:solidFill>
                  </a:tcPr>
                </a:tc>
                <a:tc>
                  <a:txBody>
                    <a:bodyPr/>
                    <a:lstStyle/>
                    <a:p>
                      <a:pPr algn="ctr">
                        <a:defRPr sz="1500" b="1">
                          <a:solidFill>
                            <a:srgbClr val="A5D6A7"/>
                          </a:solidFill>
                          <a:latin typeface="Calibri"/>
                        </a:defRPr>
                      </a:pPr>
                      <a:r>
                        <a:t>-0.0841</a:t>
                      </a:r>
                    </a:p>
                  </a:txBody>
                  <a:tcPr>
                    <a:solidFill>
                      <a:srgbClr val="242F2B"/>
                    </a:solidFill>
                  </a:tcPr>
                </a:tc>
                <a:extLst>
                  <a:ext uri="{0D108BD9-81ED-4DB2-BD59-A6C34878D82A}">
                    <a16:rowId xmlns:a16="http://schemas.microsoft.com/office/drawing/2014/main" val="10001"/>
                  </a:ext>
                </a:extLst>
              </a:tr>
              <a:tr h="587828">
                <a:tc>
                  <a:txBody>
                    <a:bodyPr/>
                    <a:lstStyle/>
                    <a:p>
                      <a:pPr algn="l">
                        <a:defRPr sz="1500">
                          <a:solidFill>
                            <a:srgbClr val="E0E0E0"/>
                          </a:solidFill>
                          <a:latin typeface="Calibri"/>
                        </a:defRPr>
                      </a:pPr>
                      <a:r>
                        <a:t>Linear Regression</a:t>
                      </a:r>
                    </a:p>
                  </a:txBody>
                  <a:tcPr>
                    <a:solidFill>
                      <a:srgbClr val="242F2B"/>
                    </a:solidFill>
                  </a:tcPr>
                </a:tc>
                <a:tc>
                  <a:txBody>
                    <a:bodyPr/>
                    <a:lstStyle/>
                    <a:p>
                      <a:pPr algn="ctr">
                        <a:defRPr sz="1500">
                          <a:solidFill>
                            <a:srgbClr val="E0E0E0"/>
                          </a:solidFill>
                          <a:latin typeface="Calibri"/>
                        </a:defRPr>
                      </a:pPr>
                      <a:r>
                        <a:t>-0.0088</a:t>
                      </a:r>
                    </a:p>
                  </a:txBody>
                  <a:tcPr>
                    <a:solidFill>
                      <a:srgbClr val="242F2B"/>
                    </a:solidFill>
                  </a:tcPr>
                </a:tc>
                <a:tc>
                  <a:txBody>
                    <a:bodyPr/>
                    <a:lstStyle/>
                    <a:p>
                      <a:pPr algn="ctr">
                        <a:defRPr sz="1500">
                          <a:solidFill>
                            <a:srgbClr val="E0E0E0"/>
                          </a:solidFill>
                          <a:latin typeface="Calibri"/>
                        </a:defRPr>
                      </a:pPr>
                      <a:r>
                        <a:t>7451.70</a:t>
                      </a:r>
                    </a:p>
                  </a:txBody>
                  <a:tcPr>
                    <a:solidFill>
                      <a:srgbClr val="242F2B"/>
                    </a:solidFill>
                  </a:tcPr>
                </a:tc>
                <a:tc>
                  <a:txBody>
                    <a:bodyPr/>
                    <a:lstStyle/>
                    <a:p>
                      <a:pPr algn="ctr">
                        <a:defRPr sz="1500">
                          <a:solidFill>
                            <a:srgbClr val="E0E0E0"/>
                          </a:solidFill>
                          <a:latin typeface="Calibri"/>
                        </a:defRPr>
                      </a:pPr>
                      <a:r>
                        <a:t>-0.0092</a:t>
                      </a:r>
                    </a:p>
                  </a:txBody>
                  <a:tcPr>
                    <a:solidFill>
                      <a:srgbClr val="242F2B"/>
                    </a:solidFill>
                  </a:tcPr>
                </a:tc>
                <a:extLst>
                  <a:ext uri="{0D108BD9-81ED-4DB2-BD59-A6C34878D82A}">
                    <a16:rowId xmlns:a16="http://schemas.microsoft.com/office/drawing/2014/main" val="10002"/>
                  </a:ext>
                </a:extLst>
              </a:tr>
              <a:tr h="587828">
                <a:tc>
                  <a:txBody>
                    <a:bodyPr/>
                    <a:lstStyle/>
                    <a:p>
                      <a:pPr algn="l">
                        <a:defRPr sz="1500">
                          <a:solidFill>
                            <a:srgbClr val="E0E0E0"/>
                          </a:solidFill>
                          <a:latin typeface="Calibri"/>
                        </a:defRPr>
                      </a:pPr>
                      <a:r>
                        <a:t>MLP (Neural Net)</a:t>
                      </a:r>
                    </a:p>
                  </a:txBody>
                  <a:tcPr>
                    <a:solidFill>
                      <a:srgbClr val="242F2B"/>
                    </a:solidFill>
                  </a:tcPr>
                </a:tc>
                <a:tc>
                  <a:txBody>
                    <a:bodyPr/>
                    <a:lstStyle/>
                    <a:p>
                      <a:pPr algn="ctr">
                        <a:defRPr sz="1500">
                          <a:solidFill>
                            <a:srgbClr val="E0E0E0"/>
                          </a:solidFill>
                          <a:latin typeface="Calibri"/>
                        </a:defRPr>
                      </a:pPr>
                      <a:r>
                        <a:t>-0.0168</a:t>
                      </a:r>
                    </a:p>
                  </a:txBody>
                  <a:tcPr>
                    <a:solidFill>
                      <a:srgbClr val="242F2B"/>
                    </a:solidFill>
                  </a:tcPr>
                </a:tc>
                <a:tc>
                  <a:txBody>
                    <a:bodyPr/>
                    <a:lstStyle/>
                    <a:p>
                      <a:pPr algn="ctr">
                        <a:defRPr sz="1500">
                          <a:solidFill>
                            <a:srgbClr val="E0E0E0"/>
                          </a:solidFill>
                          <a:latin typeface="Calibri"/>
                        </a:defRPr>
                      </a:pPr>
                      <a:r>
                        <a:t>7481.42</a:t>
                      </a:r>
                    </a:p>
                  </a:txBody>
                  <a:tcPr>
                    <a:solidFill>
                      <a:srgbClr val="242F2B"/>
                    </a:solidFill>
                  </a:tcPr>
                </a:tc>
                <a:tc>
                  <a:txBody>
                    <a:bodyPr/>
                    <a:lstStyle/>
                    <a:p>
                      <a:pPr algn="ctr">
                        <a:defRPr sz="1500">
                          <a:solidFill>
                            <a:srgbClr val="E0E0E0"/>
                          </a:solidFill>
                          <a:latin typeface="Calibri"/>
                        </a:defRPr>
                      </a:pPr>
                      <a:r>
                        <a:t>-0.0125</a:t>
                      </a:r>
                    </a:p>
                  </a:txBody>
                  <a:tcPr>
                    <a:solidFill>
                      <a:srgbClr val="242F2B"/>
                    </a:solidFill>
                  </a:tcPr>
                </a:tc>
                <a:extLst>
                  <a:ext uri="{0D108BD9-81ED-4DB2-BD59-A6C34878D82A}">
                    <a16:rowId xmlns:a16="http://schemas.microsoft.com/office/drawing/2014/main" val="10003"/>
                  </a:ext>
                </a:extLst>
              </a:tr>
              <a:tr h="587828">
                <a:tc>
                  <a:txBody>
                    <a:bodyPr/>
                    <a:lstStyle/>
                    <a:p>
                      <a:pPr algn="l">
                        <a:defRPr sz="1500">
                          <a:solidFill>
                            <a:srgbClr val="E0E0E0"/>
                          </a:solidFill>
                          <a:latin typeface="Calibri"/>
                        </a:defRPr>
                      </a:pPr>
                      <a:r>
                        <a:t>kNN</a:t>
                      </a:r>
                    </a:p>
                  </a:txBody>
                  <a:tcPr>
                    <a:solidFill>
                      <a:srgbClr val="242F2B"/>
                    </a:solidFill>
                  </a:tcPr>
                </a:tc>
                <a:tc>
                  <a:txBody>
                    <a:bodyPr/>
                    <a:lstStyle/>
                    <a:p>
                      <a:pPr algn="ctr">
                        <a:defRPr sz="1500">
                          <a:solidFill>
                            <a:srgbClr val="E0E0E0"/>
                          </a:solidFill>
                          <a:latin typeface="Calibri"/>
                        </a:defRPr>
                      </a:pPr>
                      <a:r>
                        <a:t>-0.0284</a:t>
                      </a:r>
                    </a:p>
                  </a:txBody>
                  <a:tcPr>
                    <a:solidFill>
                      <a:srgbClr val="242F2B"/>
                    </a:solidFill>
                  </a:tcPr>
                </a:tc>
                <a:tc>
                  <a:txBody>
                    <a:bodyPr/>
                    <a:lstStyle/>
                    <a:p>
                      <a:pPr algn="ctr">
                        <a:defRPr sz="1500">
                          <a:solidFill>
                            <a:srgbClr val="E0E0E0"/>
                          </a:solidFill>
                          <a:latin typeface="Calibri"/>
                        </a:defRPr>
                      </a:pPr>
                      <a:r>
                        <a:t>7523.84</a:t>
                      </a:r>
                    </a:p>
                  </a:txBody>
                  <a:tcPr>
                    <a:solidFill>
                      <a:srgbClr val="242F2B"/>
                    </a:solidFill>
                  </a:tcPr>
                </a:tc>
                <a:tc>
                  <a:txBody>
                    <a:bodyPr/>
                    <a:lstStyle/>
                    <a:p>
                      <a:pPr algn="ctr">
                        <a:defRPr sz="1500">
                          <a:solidFill>
                            <a:srgbClr val="E0E0E0"/>
                          </a:solidFill>
                          <a:latin typeface="Calibri"/>
                        </a:defRPr>
                      </a:pPr>
                      <a:r>
                        <a:t>-0.0342</a:t>
                      </a:r>
                    </a:p>
                  </a:txBody>
                  <a:tcPr>
                    <a:solidFill>
                      <a:srgbClr val="242F2B"/>
                    </a:solidFill>
                  </a:tcPr>
                </a:tc>
                <a:extLst>
                  <a:ext uri="{0D108BD9-81ED-4DB2-BD59-A6C34878D82A}">
                    <a16:rowId xmlns:a16="http://schemas.microsoft.com/office/drawing/2014/main" val="10004"/>
                  </a:ext>
                </a:extLst>
              </a:tr>
              <a:tr h="587828">
                <a:tc>
                  <a:txBody>
                    <a:bodyPr/>
                    <a:lstStyle/>
                    <a:p>
                      <a:pPr algn="l">
                        <a:defRPr sz="1500">
                          <a:solidFill>
                            <a:srgbClr val="E0E0E0"/>
                          </a:solidFill>
                          <a:latin typeface="Calibri"/>
                        </a:defRPr>
                      </a:pPr>
                      <a:r>
                        <a:t>Gradient Boosting</a:t>
                      </a:r>
                    </a:p>
                  </a:txBody>
                  <a:tcPr>
                    <a:solidFill>
                      <a:srgbClr val="242F2B"/>
                    </a:solidFill>
                  </a:tcPr>
                </a:tc>
                <a:tc>
                  <a:txBody>
                    <a:bodyPr/>
                    <a:lstStyle/>
                    <a:p>
                      <a:pPr algn="ctr">
                        <a:defRPr sz="1500">
                          <a:solidFill>
                            <a:srgbClr val="E0E0E0"/>
                          </a:solidFill>
                          <a:latin typeface="Calibri"/>
                        </a:defRPr>
                      </a:pPr>
                      <a:r>
                        <a:t>-0.0419</a:t>
                      </a:r>
                    </a:p>
                  </a:txBody>
                  <a:tcPr>
                    <a:solidFill>
                      <a:srgbClr val="242F2B"/>
                    </a:solidFill>
                  </a:tcPr>
                </a:tc>
                <a:tc>
                  <a:txBody>
                    <a:bodyPr/>
                    <a:lstStyle/>
                    <a:p>
                      <a:pPr algn="ctr">
                        <a:defRPr sz="1500">
                          <a:solidFill>
                            <a:srgbClr val="E0E0E0"/>
                          </a:solidFill>
                          <a:latin typeface="Calibri"/>
                        </a:defRPr>
                      </a:pPr>
                      <a:r>
                        <a:t>7572.92</a:t>
                      </a:r>
                    </a:p>
                  </a:txBody>
                  <a:tcPr>
                    <a:solidFill>
                      <a:srgbClr val="242F2B"/>
                    </a:solidFill>
                  </a:tcPr>
                </a:tc>
                <a:tc>
                  <a:txBody>
                    <a:bodyPr/>
                    <a:lstStyle/>
                    <a:p>
                      <a:pPr algn="ctr">
                        <a:defRPr sz="1500">
                          <a:solidFill>
                            <a:srgbClr val="E0E0E0"/>
                          </a:solidFill>
                          <a:latin typeface="Calibri"/>
                        </a:defRPr>
                      </a:pPr>
                      <a:r>
                        <a:t>-0.0144</a:t>
                      </a:r>
                    </a:p>
                  </a:txBody>
                  <a:tcPr>
                    <a:solidFill>
                      <a:srgbClr val="242F2B"/>
                    </a:solidFill>
                  </a:tcPr>
                </a:tc>
                <a:extLst>
                  <a:ext uri="{0D108BD9-81ED-4DB2-BD59-A6C34878D82A}">
                    <a16:rowId xmlns:a16="http://schemas.microsoft.com/office/drawing/2014/main" val="10005"/>
                  </a:ext>
                </a:extLst>
              </a:tr>
              <a:tr h="587832">
                <a:tc>
                  <a:txBody>
                    <a:bodyPr/>
                    <a:lstStyle/>
                    <a:p>
                      <a:pPr algn="l">
                        <a:defRPr sz="1500">
                          <a:solidFill>
                            <a:srgbClr val="E0E0E0"/>
                          </a:solidFill>
                          <a:latin typeface="Calibri"/>
                        </a:defRPr>
                      </a:pPr>
                      <a:r>
                        <a:t>Decision Tree</a:t>
                      </a:r>
                    </a:p>
                  </a:txBody>
                  <a:tcPr>
                    <a:solidFill>
                      <a:srgbClr val="242F2B"/>
                    </a:solidFill>
                  </a:tcPr>
                </a:tc>
                <a:tc>
                  <a:txBody>
                    <a:bodyPr/>
                    <a:lstStyle/>
                    <a:p>
                      <a:pPr algn="ctr">
                        <a:defRPr sz="1500">
                          <a:solidFill>
                            <a:srgbClr val="E0E0E0"/>
                          </a:solidFill>
                          <a:latin typeface="Calibri"/>
                        </a:defRPr>
                      </a:pPr>
                      <a:r>
                        <a:t>-1.1923</a:t>
                      </a:r>
                    </a:p>
                  </a:txBody>
                  <a:tcPr>
                    <a:solidFill>
                      <a:srgbClr val="242F2B"/>
                    </a:solidFill>
                  </a:tcPr>
                </a:tc>
                <a:tc>
                  <a:txBody>
                    <a:bodyPr/>
                    <a:lstStyle/>
                    <a:p>
                      <a:pPr algn="ctr">
                        <a:defRPr sz="1500">
                          <a:solidFill>
                            <a:srgbClr val="E0E0E0"/>
                          </a:solidFill>
                          <a:latin typeface="Calibri"/>
                        </a:defRPr>
                      </a:pPr>
                      <a:r>
                        <a:t>10985.28</a:t>
                      </a:r>
                    </a:p>
                  </a:txBody>
                  <a:tcPr>
                    <a:solidFill>
                      <a:srgbClr val="242F2B"/>
                    </a:solidFill>
                  </a:tcPr>
                </a:tc>
                <a:tc>
                  <a:txBody>
                    <a:bodyPr/>
                    <a:lstStyle/>
                    <a:p>
                      <a:pPr algn="ctr">
                        <a:defRPr sz="1500">
                          <a:solidFill>
                            <a:srgbClr val="E0E0E0"/>
                          </a:solidFill>
                          <a:latin typeface="Calibri"/>
                        </a:defRPr>
                      </a:pPr>
                      <a:r>
                        <a:t>-0.2132</a:t>
                      </a:r>
                    </a:p>
                  </a:txBody>
                  <a:tcPr>
                    <a:solidFill>
                      <a:srgbClr val="242F2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Random Forest Hyperparameter Tuning</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Optimizing Ensemble Size</a:t>
            </a:r>
          </a:p>
          <a:p>
            <a:pPr>
              <a:spcAft>
                <a:spcPts val="800"/>
              </a:spcAft>
            </a:pPr>
            <a:r>
              <a:rPr sz="1600" b="1">
                <a:solidFill>
                  <a:srgbClr val="A5D6A7"/>
                </a:solidFill>
                <a:latin typeface="Calibri"/>
              </a:rPr>
              <a:t>Ensemble Size (n_estimators): </a:t>
            </a:r>
            <a:r>
              <a:rPr sz="1500">
                <a:solidFill>
                  <a:srgbClr val="E0E0E0"/>
                </a:solidFill>
                <a:latin typeface="Calibri"/>
              </a:rPr>
              <a:t>Evaluated the impact of ensemble size on prediction performance:</a:t>
            </a:r>
          </a:p>
          <a:p>
            <a:pPr>
              <a:spcAft>
                <a:spcPts val="800"/>
              </a:spcAft>
            </a:pPr>
            <a:r>
              <a:rPr sz="1600" b="1">
                <a:solidFill>
                  <a:srgbClr val="A5D6A7"/>
                </a:solidFill>
                <a:latin typeface="Calibri"/>
              </a:rPr>
              <a:t>• 50 trees: </a:t>
            </a:r>
            <a:r>
              <a:rPr sz="1500">
                <a:solidFill>
                  <a:srgbClr val="E0E0E0"/>
                </a:solidFill>
                <a:latin typeface="Calibri"/>
              </a:rPr>
              <a:t>R² = 0.1367</a:t>
            </a:r>
          </a:p>
          <a:p>
            <a:pPr>
              <a:spcAft>
                <a:spcPts val="800"/>
              </a:spcAft>
            </a:pPr>
            <a:r>
              <a:rPr sz="1600" b="1">
                <a:solidFill>
                  <a:srgbClr val="A5D6A7"/>
                </a:solidFill>
                <a:latin typeface="Calibri"/>
              </a:rPr>
              <a:t>• 100 trees (Baseline): </a:t>
            </a:r>
            <a:r>
              <a:rPr sz="1500">
                <a:solidFill>
                  <a:srgbClr val="E0E0E0"/>
                </a:solidFill>
                <a:latin typeface="Calibri"/>
              </a:rPr>
              <a:t>R² = 0.1220</a:t>
            </a:r>
          </a:p>
          <a:p>
            <a:pPr>
              <a:spcAft>
                <a:spcPts val="800"/>
              </a:spcAft>
            </a:pPr>
            <a:r>
              <a:rPr sz="1600" b="1">
                <a:solidFill>
                  <a:srgbClr val="A5D6A7"/>
                </a:solidFill>
                <a:latin typeface="Calibri"/>
              </a:rPr>
              <a:t>• 150 trees (Best): </a:t>
            </a:r>
            <a:r>
              <a:rPr sz="1500">
                <a:solidFill>
                  <a:srgbClr val="E0E0E0"/>
                </a:solidFill>
                <a:latin typeface="Calibri"/>
              </a:rPr>
              <a:t>R² = 0.1490 (RMSE = 6844.21 acres)</a:t>
            </a:r>
          </a:p>
          <a:p>
            <a:pPr>
              <a:spcAft>
                <a:spcPts val="800"/>
              </a:spcAft>
            </a:pPr>
            <a:r>
              <a:rPr sz="1600" b="1">
                <a:solidFill>
                  <a:srgbClr val="A5D6A7"/>
                </a:solidFill>
                <a:latin typeface="Calibri"/>
              </a:rPr>
              <a:t>Performance Summary: </a:t>
            </a:r>
            <a:r>
              <a:rPr sz="1500">
                <a:solidFill>
                  <a:srgbClr val="E0E0E0"/>
                </a:solidFill>
                <a:latin typeface="Calibri"/>
              </a:rPr>
              <a:t>Optimization yielded a +2.7% baseline improvement in R² and reduced the prediction error (RMSE).</a:t>
            </a:r>
          </a:p>
        </p:txBody>
      </p:sp>
      <p:pic>
        <p:nvPicPr>
          <p:cNvPr id="5" name="Picture 4" descr="Random Forest Tuning Curve.png"/>
          <p:cNvPicPr>
            <a:picLocks noChangeAspect="1"/>
          </p:cNvPicPr>
          <p:nvPr/>
        </p:nvPicPr>
        <p:blipFill>
          <a:blip r:embed="rId3"/>
          <a:stretch>
            <a:fillRect/>
          </a:stretch>
        </p:blipFill>
        <p:spPr>
          <a:xfrm>
            <a:off x="6217920" y="1645920"/>
            <a:ext cx="5029200" cy="31876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Selected Final Model &amp; Configuration</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Chosen Model Configuration</a:t>
            </a:r>
          </a:p>
          <a:p>
            <a:pPr>
              <a:spcAft>
                <a:spcPts val="800"/>
              </a:spcAft>
            </a:pPr>
            <a:r>
              <a:rPr sz="1600" b="1">
                <a:solidFill>
                  <a:srgbClr val="A5D6A7"/>
                </a:solidFill>
                <a:latin typeface="Calibri"/>
              </a:rPr>
              <a:t>Model Selection: </a:t>
            </a:r>
            <a:r>
              <a:rPr sz="1500">
                <a:solidFill>
                  <a:srgbClr val="E0E0E0"/>
                </a:solidFill>
                <a:latin typeface="Calibri"/>
              </a:rPr>
              <a:t>Random Forest Regressor</a:t>
            </a:r>
          </a:p>
          <a:p>
            <a:pPr>
              <a:spcAft>
                <a:spcPts val="800"/>
              </a:spcAft>
            </a:pPr>
            <a:r>
              <a:rPr sz="1600" b="1">
                <a:solidFill>
                  <a:srgbClr val="A5D6A7"/>
                </a:solidFill>
                <a:latin typeface="Calibri"/>
              </a:rPr>
              <a:t>Optimized Hyperparameter: </a:t>
            </a:r>
            <a:r>
              <a:rPr sz="1500">
                <a:solidFill>
                  <a:srgbClr val="E0E0E0"/>
                </a:solidFill>
                <a:latin typeface="Calibri"/>
              </a:rPr>
              <a:t>n_estimators = 150 (150 decision trees)</a:t>
            </a:r>
          </a:p>
          <a:p>
            <a:pPr>
              <a:spcAft>
                <a:spcPts val="800"/>
              </a:spcAft>
            </a:pPr>
            <a:r>
              <a:rPr sz="1600" b="1">
                <a:solidFill>
                  <a:srgbClr val="A5D6A7"/>
                </a:solidFill>
                <a:latin typeface="Calibri"/>
              </a:rPr>
              <a:t>random_state: </a:t>
            </a:r>
            <a:r>
              <a:rPr sz="1500">
                <a:solidFill>
                  <a:srgbClr val="E0E0E0"/>
                </a:solidFill>
                <a:latin typeface="Calibri"/>
              </a:rPr>
              <a:t>42 (for absolute reproducibility)</a:t>
            </a:r>
          </a:p>
          <a:p>
            <a:pPr>
              <a:spcAft>
                <a:spcPts val="800"/>
              </a:spcAft>
            </a:pPr>
            <a:r>
              <a:rPr sz="1600" b="1">
                <a:solidFill>
                  <a:srgbClr val="A5D6A7"/>
                </a:solidFill>
                <a:latin typeface="Calibri"/>
              </a:rPr>
              <a:t>criterion: </a:t>
            </a:r>
            <a:r>
              <a:rPr sz="1500">
                <a:solidFill>
                  <a:srgbClr val="E0E0E0"/>
                </a:solidFill>
                <a:latin typeface="Calibri"/>
              </a:rPr>
              <a:t>'squared_error' (mean squared error loss)</a:t>
            </a:r>
          </a:p>
          <a:p>
            <a:pPr>
              <a:spcAft>
                <a:spcPts val="800"/>
              </a:spcAft>
            </a:pPr>
            <a:r>
              <a:rPr sz="1600" b="1">
                <a:solidFill>
                  <a:srgbClr val="A5D6A7"/>
                </a:solidFill>
                <a:latin typeface="Calibri"/>
              </a:rPr>
              <a:t>max_depth: </a:t>
            </a:r>
            <a:r>
              <a:rPr sz="1500">
                <a:solidFill>
                  <a:srgbClr val="E0E0E0"/>
                </a:solidFill>
                <a:latin typeface="Calibri"/>
              </a:rPr>
              <a:t>Unlimited (grown fully to capture complex thresholds)</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Final Evaluation Results</a:t>
            </a:r>
          </a:p>
          <a:p>
            <a:pPr>
              <a:spcAft>
                <a:spcPts val="800"/>
              </a:spcAft>
            </a:pPr>
            <a:r>
              <a:rPr sz="1600" b="1">
                <a:solidFill>
                  <a:srgbClr val="A5D6A7"/>
                </a:solidFill>
                <a:latin typeface="Calibri"/>
              </a:rPr>
              <a:t>Final R² Score: </a:t>
            </a:r>
            <a:r>
              <a:rPr sz="1500">
                <a:solidFill>
                  <a:srgbClr val="E0E0E0"/>
                </a:solidFill>
                <a:latin typeface="Calibri"/>
              </a:rPr>
              <a:t>0.1490 (+2.7% relative improvement over baseline)</a:t>
            </a:r>
          </a:p>
          <a:p>
            <a:pPr>
              <a:spcAft>
                <a:spcPts val="800"/>
              </a:spcAft>
            </a:pPr>
            <a:r>
              <a:rPr sz="1600" b="1">
                <a:solidFill>
                  <a:srgbClr val="A5D6A7"/>
                </a:solidFill>
                <a:latin typeface="Calibri"/>
              </a:rPr>
              <a:t>Final RMSE: </a:t>
            </a:r>
            <a:r>
              <a:rPr sz="1500">
                <a:solidFill>
                  <a:srgbClr val="E0E0E0"/>
                </a:solidFill>
                <a:latin typeface="Calibri"/>
              </a:rPr>
              <a:t>6844.21 acres (reduced from 6951.77 acres)</a:t>
            </a:r>
          </a:p>
          <a:p>
            <a:pPr>
              <a:spcAft>
                <a:spcPts val="800"/>
              </a:spcAft>
            </a:pPr>
            <a:r>
              <a:rPr sz="1600" b="1">
                <a:solidFill>
                  <a:srgbClr val="A5D6A7"/>
                </a:solidFill>
                <a:latin typeface="Calibri"/>
              </a:rPr>
              <a:t>Key Strength: </a:t>
            </a:r>
            <a:r>
              <a:rPr sz="1500">
                <a:solidFill>
                  <a:srgbClr val="E0E0E0"/>
                </a:solidFill>
                <a:latin typeface="Calibri"/>
              </a:rPr>
              <a:t>Superior generalizability over non-ensemble architectures on non-linear ODF features.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Results Discussion &amp; Challenges</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Key Challenges</a:t>
            </a:r>
          </a:p>
          <a:p>
            <a:pPr>
              <a:spcAft>
                <a:spcPts val="800"/>
              </a:spcAft>
            </a:pPr>
            <a:r>
              <a:rPr sz="1600" b="1">
                <a:solidFill>
                  <a:srgbClr val="A5D6A7"/>
                </a:solidFill>
                <a:latin typeface="Calibri"/>
              </a:rPr>
              <a:t>Highly Skewed Target Distribution: </a:t>
            </a:r>
            <a:r>
              <a:rPr sz="1500">
                <a:solidFill>
                  <a:srgbClr val="E0E0E0"/>
                </a:solidFill>
                <a:latin typeface="Calibri"/>
              </a:rPr>
              <a:t>Wildfires follow a power-law distribution. Most fires are very small (&lt; 1 acre), but a few massive fires account for the bulk of burned acres.</a:t>
            </a:r>
          </a:p>
          <a:p>
            <a:pPr>
              <a:spcAft>
                <a:spcPts val="800"/>
              </a:spcAft>
            </a:pPr>
            <a:r>
              <a:rPr sz="1600" b="1">
                <a:solidFill>
                  <a:srgbClr val="A5D6A7"/>
                </a:solidFill>
                <a:latin typeface="Calibri"/>
              </a:rPr>
              <a:t>MSE/RMSE Penalty: </a:t>
            </a:r>
            <a:r>
              <a:rPr sz="1500">
                <a:solidFill>
                  <a:srgbClr val="E0E0E0"/>
                </a:solidFill>
                <a:latin typeface="Calibri"/>
              </a:rPr>
              <a:t>Standard regression loss functions (MSE/RMSE) quadratically penalize errors on these extreme outliers, driving high volatility.</a:t>
            </a:r>
          </a:p>
          <a:p>
            <a:pPr>
              <a:spcAft>
                <a:spcPts val="800"/>
              </a:spcAft>
            </a:pPr>
            <a:r>
              <a:rPr sz="1600" b="1">
                <a:solidFill>
                  <a:srgbClr val="A5D6A7"/>
                </a:solidFill>
                <a:latin typeface="Calibri"/>
              </a:rPr>
              <a:t>Missing Meteorological Predictors: </a:t>
            </a:r>
            <a:r>
              <a:rPr sz="1500">
                <a:solidFill>
                  <a:srgbClr val="E0E0E0"/>
                </a:solidFill>
                <a:latin typeface="Calibri"/>
              </a:rPr>
              <a:t>Administrative data is static. Predicting fire spread requires dynamic parameters like wind speed, fuel dryness, temperature, and relative humidity.</a:t>
            </a:r>
          </a:p>
        </p:txBody>
      </p:sp>
      <p:pic>
        <p:nvPicPr>
          <p:cNvPr id="5" name="Picture 4" descr="Distribution of Burned Area.png"/>
          <p:cNvPicPr>
            <a:picLocks noChangeAspect="1"/>
          </p:cNvPicPr>
          <p:nvPr/>
        </p:nvPicPr>
        <p:blipFill>
          <a:blip r:embed="rId3"/>
          <a:stretch>
            <a:fillRect/>
          </a:stretch>
        </p:blipFill>
        <p:spPr>
          <a:xfrm>
            <a:off x="6217920" y="1645920"/>
            <a:ext cx="5029200" cy="31693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Conclusion &amp; Future Work</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Key Achievements</a:t>
            </a:r>
          </a:p>
          <a:p>
            <a:pPr>
              <a:spcAft>
                <a:spcPts val="800"/>
              </a:spcAft>
            </a:pPr>
            <a:r>
              <a:rPr sz="1600" b="1">
                <a:solidFill>
                  <a:srgbClr val="A5D6A7"/>
                </a:solidFill>
                <a:latin typeface="Calibri"/>
              </a:rPr>
              <a:t>Leakage-Free Pipeline: </a:t>
            </a:r>
            <a:r>
              <a:rPr sz="1500">
                <a:solidFill>
                  <a:srgbClr val="E0E0E0"/>
                </a:solidFill>
                <a:latin typeface="Calibri"/>
              </a:rPr>
              <a:t>Developed a leakage-free ML pipeline; identified Random Forest as the superior regressor; analyzed PCA's limitations on tree ensembling.</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Proposed Future Work</a:t>
            </a:r>
          </a:p>
          <a:p>
            <a:pPr>
              <a:spcAft>
                <a:spcPts val="800"/>
              </a:spcAft>
            </a:pPr>
            <a:r>
              <a:rPr sz="1600" b="1">
                <a:solidFill>
                  <a:srgbClr val="A5D6A7"/>
                </a:solidFill>
                <a:latin typeface="Calibri"/>
              </a:rPr>
              <a:t>Log Transformation: </a:t>
            </a:r>
            <a:r>
              <a:rPr sz="1500">
                <a:solidFill>
                  <a:srgbClr val="E0E0E0"/>
                </a:solidFill>
                <a:latin typeface="Calibri"/>
              </a:rPr>
              <a:t>Train models on log(Acres + 1) to compress skewed outliers.</a:t>
            </a:r>
          </a:p>
          <a:p>
            <a:pPr>
              <a:spcAft>
                <a:spcPts val="800"/>
              </a:spcAft>
            </a:pPr>
            <a:r>
              <a:rPr sz="1600" b="1">
                <a:solidFill>
                  <a:srgbClr val="A5D6A7"/>
                </a:solidFill>
                <a:latin typeface="Calibri"/>
              </a:rPr>
              <a:t>Weather Data Integration: </a:t>
            </a:r>
            <a:r>
              <a:rPr sz="1500">
                <a:solidFill>
                  <a:srgbClr val="E0E0E0"/>
                </a:solidFill>
                <a:latin typeface="Calibri"/>
              </a:rPr>
              <a:t>Merge historical fire coordinates with meteorological data (NOAA, ERA5).</a:t>
            </a:r>
          </a:p>
          <a:p>
            <a:pPr>
              <a:spcAft>
                <a:spcPts val="800"/>
              </a:spcAft>
            </a:pPr>
            <a:r>
              <a:rPr sz="1600" b="1">
                <a:solidFill>
                  <a:srgbClr val="A5D6A7"/>
                </a:solidFill>
                <a:latin typeface="Calibri"/>
              </a:rPr>
              <a:t>Classification Reframing: </a:t>
            </a:r>
            <a:r>
              <a:rPr sz="1500">
                <a:solidFill>
                  <a:srgbClr val="E0E0E0"/>
                </a:solidFill>
                <a:latin typeface="Calibri"/>
              </a:rPr>
              <a:t>Predict discrete fire size categories (A through G) for actionable resource staging.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731520"/>
          </a:xfrm>
          <a:prstGeom prst="rect">
            <a:avLst/>
          </a:prstGeom>
          <a:noFill/>
        </p:spPr>
        <p:txBody>
          <a:bodyPr wrap="square" lIns="0" tIns="0" rIns="0" bIns="0">
            <a:spAutoFit/>
          </a:bodyPr>
          <a:lstStyle/>
          <a:p>
            <a:pPr>
              <a:defRPr sz="3600" b="1">
                <a:solidFill>
                  <a:srgbClr val="A5D6A7"/>
                </a:solidFill>
                <a:latin typeface="Trebuchet MS"/>
              </a:defRPr>
            </a:pPr>
            <a:r>
              <a:t>Team Contributions &amp; Reflections</a:t>
            </a:r>
          </a:p>
        </p:txBody>
      </p:sp>
      <p:sp>
        <p:nvSpPr>
          <p:cNvPr id="3" name="Rectangle 2"/>
          <p:cNvSpPr/>
          <p:nvPr/>
        </p:nvSpPr>
        <p:spPr>
          <a:xfrm>
            <a:off x="685800" y="6217920"/>
            <a:ext cx="10820095" cy="1828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4846320" cy="4114800"/>
          </a:xfrm>
          <a:prstGeom prst="rect">
            <a:avLst/>
          </a:prstGeom>
          <a:noFill/>
        </p:spPr>
        <p:txBody>
          <a:bodyPr wrap="square">
            <a:spAutoFit/>
          </a:bodyPr>
          <a:lstStyle/>
          <a:p>
            <a:pPr>
              <a:spcAft>
                <a:spcPts val="1400"/>
              </a:spcAft>
              <a:defRPr sz="2200" b="1">
                <a:solidFill>
                  <a:srgbClr val="A5D6A7"/>
                </a:solidFill>
                <a:latin typeface="Trebuchet MS"/>
              </a:defRPr>
            </a:pPr>
            <a:r>
              <a:t>Lwee Tong Jun (Data Preprocessing)</a:t>
            </a:r>
          </a:p>
          <a:p>
            <a:pPr>
              <a:spcAft>
                <a:spcPts val="800"/>
              </a:spcAft>
            </a:pPr>
            <a:r>
              <a:rPr sz="1600" b="1">
                <a:solidFill>
                  <a:srgbClr val="A5D6A7"/>
                </a:solidFill>
                <a:latin typeface="Calibri"/>
              </a:rPr>
              <a:t>Contributions: </a:t>
            </a:r>
            <a:r>
              <a:rPr sz="1500">
                <a:solidFill>
                  <a:srgbClr val="E0E0E0"/>
                </a:solidFill>
                <a:latin typeface="Calibri"/>
              </a:rPr>
              <a:t>Target leakage discovery, datetime engineering, categorical coding design.</a:t>
            </a:r>
          </a:p>
          <a:p>
            <a:pPr>
              <a:spcAft>
                <a:spcPts val="800"/>
              </a:spcAft>
            </a:pPr>
            <a:r>
              <a:rPr sz="1600" b="1">
                <a:solidFill>
                  <a:srgbClr val="A5D6A7"/>
                </a:solidFill>
                <a:latin typeface="Calibri"/>
              </a:rPr>
              <a:t>Key Learning: </a:t>
            </a:r>
            <a:r>
              <a:rPr sz="1500">
                <a:solidFill>
                  <a:srgbClr val="E0E0E0"/>
                </a:solidFill>
                <a:latin typeface="Calibri"/>
              </a:rPr>
              <a:t>Practical leakage resolution and categorical representation trade-offs in real-world GIS databases.</a:t>
            </a:r>
          </a:p>
        </p:txBody>
      </p:sp>
      <p:sp>
        <p:nvSpPr>
          <p:cNvPr id="5" name="TextBox 4"/>
          <p:cNvSpPr txBox="1"/>
          <p:nvPr/>
        </p:nvSpPr>
        <p:spPr>
          <a:xfrm>
            <a:off x="6217920" y="1645920"/>
            <a:ext cx="5029200" cy="4114800"/>
          </a:xfrm>
          <a:prstGeom prst="rect">
            <a:avLst/>
          </a:prstGeom>
          <a:noFill/>
        </p:spPr>
        <p:txBody>
          <a:bodyPr wrap="square">
            <a:spAutoFit/>
          </a:bodyPr>
          <a:lstStyle/>
          <a:p>
            <a:pPr>
              <a:spcAft>
                <a:spcPts val="1400"/>
              </a:spcAft>
              <a:defRPr sz="2200" b="1">
                <a:solidFill>
                  <a:srgbClr val="A5D6A7"/>
                </a:solidFill>
                <a:latin typeface="Trebuchet MS"/>
              </a:defRPr>
            </a:pPr>
            <a:r>
              <a:t>Peng Ze Wei (ML Models)</a:t>
            </a:r>
          </a:p>
          <a:p>
            <a:pPr>
              <a:spcAft>
                <a:spcPts val="800"/>
              </a:spcAft>
            </a:pPr>
            <a:r>
              <a:rPr sz="1600" b="1">
                <a:solidFill>
                  <a:srgbClr val="A5D6A7"/>
                </a:solidFill>
                <a:latin typeface="Calibri"/>
              </a:rPr>
              <a:t>Contributions: </a:t>
            </a:r>
            <a:r>
              <a:rPr sz="1500">
                <a:solidFill>
                  <a:srgbClr val="E0E0E0"/>
                </a:solidFill>
                <a:latin typeface="Calibri"/>
              </a:rPr>
              <a:t>Implementation of 6 regressors, scaling, PCA design, RF tuning.</a:t>
            </a:r>
          </a:p>
          <a:p>
            <a:pPr>
              <a:spcAft>
                <a:spcPts val="800"/>
              </a:spcAft>
            </a:pPr>
            <a:r>
              <a:rPr sz="1600" b="1">
                <a:solidFill>
                  <a:srgbClr val="A5D6A7"/>
                </a:solidFill>
                <a:latin typeface="Calibri"/>
              </a:rPr>
              <a:t>Key Learning: </a:t>
            </a:r>
            <a:r>
              <a:rPr sz="1500">
                <a:solidFill>
                  <a:srgbClr val="E0E0E0"/>
                </a:solidFill>
                <a:latin typeface="Calibri"/>
              </a:rPr>
              <a:t>Understanding PCA's destructive effect on non-linear decision boundaries and interpreting regression metrics in skewed datasets.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521"/>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362895" cy="4114800"/>
          </a:xfrm>
          <a:prstGeom prst="rect">
            <a:avLst/>
          </a:prstGeom>
          <a:noFill/>
        </p:spPr>
        <p:txBody>
          <a:bodyPr wrap="square">
            <a:spAutoFit/>
          </a:bodyPr>
          <a:lstStyle/>
          <a:p>
            <a:pPr algn="ctr">
              <a:spcAft>
                <a:spcPts val="2400"/>
              </a:spcAft>
              <a:defRPr sz="6400" b="1">
                <a:solidFill>
                  <a:srgbClr val="A5D6A7"/>
                </a:solidFill>
                <a:latin typeface="Trebuchet MS"/>
              </a:defRPr>
            </a:pPr>
            <a:r>
              <a:t>Thank You!</a:t>
            </a:r>
          </a:p>
          <a:p>
            <a:pPr algn="ctr">
              <a:spcAft>
                <a:spcPts val="1000"/>
              </a:spcAft>
              <a:defRPr sz="2400" b="1">
                <a:solidFill>
                  <a:srgbClr val="FFFFFF"/>
                </a:solidFill>
                <a:latin typeface="Calibri"/>
              </a:defRPr>
            </a:pPr>
            <a:r>
              <a:t>Wildfire Burned Area Prediction</a:t>
            </a:r>
          </a:p>
          <a:p>
            <a:pPr algn="ctr">
              <a:spcAft>
                <a:spcPts val="2000"/>
              </a:spcAft>
              <a:defRPr sz="1800">
                <a:solidFill>
                  <a:srgbClr val="E0E0E0"/>
                </a:solidFill>
                <a:latin typeface="Calibri"/>
              </a:defRPr>
            </a:pPr>
            <a:r>
              <a:t>Aligned with UN SDG 13: Climate Action</a:t>
            </a:r>
          </a:p>
          <a:p>
            <a:pPr algn="ctr">
              <a:defRPr sz="1800">
                <a:solidFill>
                  <a:srgbClr val="A5D6A7"/>
                </a:solidFill>
                <a:latin typeface="Calibri"/>
              </a:defRPr>
            </a:pPr>
            <a:r>
              <a:t>Lwee Tong Jun &amp; Peng Ze Wei</a:t>
            </a:r>
            <a:br/>
            <a:r>
              <a:t>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1824</Words>
  <Application>Microsoft Office PowerPoint</Application>
  <PresentationFormat>Widescreen</PresentationFormat>
  <Paragraphs>135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LWEE TONG JUN</cp:lastModifiedBy>
  <cp:revision>2</cp:revision>
  <dcterms:created xsi:type="dcterms:W3CDTF">2013-01-27T09:14:16Z</dcterms:created>
  <dcterms:modified xsi:type="dcterms:W3CDTF">2026-06-27T10:11:17Z</dcterms:modified>
  <cp:category/>
</cp:coreProperties>
</file>